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75598adc63e4169" /><Relationship Type="http://schemas.openxmlformats.org/officeDocument/2006/relationships/extended-properties" Target="/docProps/app.xml" Id="R32e0cf12009f47e9" /><Relationship Type="http://schemas.openxmlformats.org/officeDocument/2006/relationships/officeDocument" Target="/ppt/presentation.xml" Id="R578c84c57f1042d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37da913994e4c9b"/>
  </p:sldMasterIdLst>
  <p:notesMasterIdLst>
    <p:notesMasterId xmlns:r="http://schemas.openxmlformats.org/officeDocument/2006/relationships" r:id="Re589d9dfd3be40cb"/>
  </p:notesMasterIdLst>
  <p:sldIdLst>
    <p:sldId xmlns:r="http://schemas.openxmlformats.org/officeDocument/2006/relationships" id="256" r:id="R41c9933d215c4a27"/>
    <p:sldId xmlns:r="http://schemas.openxmlformats.org/officeDocument/2006/relationships" id="257" r:id="R8b78b5a60d834484"/>
    <p:sldId xmlns:r="http://schemas.openxmlformats.org/officeDocument/2006/relationships" id="258" r:id="R0e1ef7ef8860404e"/>
    <p:sldId xmlns:r="http://schemas.openxmlformats.org/officeDocument/2006/relationships" id="259" r:id="Rd27cc438eb0c495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7da913994e4c9b" /><Relationship Type="http://schemas.openxmlformats.org/officeDocument/2006/relationships/theme" Target="/ppt/theme/theme1.xml" Id="R88d44f788f984a2c" /><Relationship Type="http://schemas.openxmlformats.org/officeDocument/2006/relationships/notesMaster" Target="/ppt/notesMasters/notesMaster1.xml" Id="Re589d9dfd3be40cb" /><Relationship Type="http://schemas.openxmlformats.org/officeDocument/2006/relationships/presProps" Target="/ppt/presProps.xml" Id="Rd2306c2370004cd0" /><Relationship Type="http://schemas.openxmlformats.org/officeDocument/2006/relationships/viewProps" Target="/ppt/viewProps.xml" Id="R8d4f185f07a340ed" /><Relationship Type="http://schemas.openxmlformats.org/officeDocument/2006/relationships/tableStyles" Target="/ppt/tableStyles.xml" Id="R20d24eb2e7f444ae" /><Relationship Type="http://schemas.openxmlformats.org/officeDocument/2006/relationships/slide" Target="/ppt/slides/slide1.xml" Id="R41c9933d215c4a27" /><Relationship Type="http://schemas.openxmlformats.org/officeDocument/2006/relationships/slide" Target="/ppt/slides/slide2.xml" Id="R8b78b5a60d834484" /><Relationship Type="http://schemas.openxmlformats.org/officeDocument/2006/relationships/slide" Target="/ppt/slides/slide3.xml" Id="R0e1ef7ef8860404e" /><Relationship Type="http://schemas.openxmlformats.org/officeDocument/2006/relationships/slide" Target="/ppt/slides/slide4.xml" Id="Rd27cc438eb0c495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1796959a6b29495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6dd834e35b34d27" /><Relationship Type="http://schemas.openxmlformats.org/officeDocument/2006/relationships/notesMaster" Target="/ppt/notesMasters/notesMaster1.xml" Id="R18d99800589f4ef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f4384dab1044a80" /><Relationship Type="http://schemas.openxmlformats.org/officeDocument/2006/relationships/notesMaster" Target="/ppt/notesMasters/notesMaster1.xml" Id="R525146df8a434b2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fa00a65bda04c8c" /><Relationship Type="http://schemas.openxmlformats.org/officeDocument/2006/relationships/notesMaster" Target="/ppt/notesMasters/notesMaster1.xml" Id="R471a6d3d19b0490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9892b143f1045cb" /><Relationship Type="http://schemas.openxmlformats.org/officeDocument/2006/relationships/notesMaster" Target="/ppt/notesMasters/notesMaster1.xml" Id="Re043d8aa9db344f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2025ebad454c76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02256213e6c84c9e" /><Relationship Type="http://schemas.openxmlformats.org/officeDocument/2006/relationships/slideLayout" Target="/ppt/slideLayouts/slideLayout2.xml" Id="R8443954db7cc42a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443954db7cc42a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f5fbf9c40c14960" /><Relationship Type="http://schemas.openxmlformats.org/officeDocument/2006/relationships/notesSlide" Target="/ppt/notesSlides/notesSlide1.xml" Id="Rc85a8cf94a8545a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2dddbf2339e4ec9" /><Relationship Type="http://schemas.openxmlformats.org/officeDocument/2006/relationships/notesSlide" Target="/ppt/notesSlides/notesSlide2.xml" Id="R0723427314f54b7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071264e198c4444" /><Relationship Type="http://schemas.openxmlformats.org/officeDocument/2006/relationships/notesSlide" Target="/ppt/notesSlides/notesSlide3.xml" Id="R1f50bd08ee2e431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b5e5035573b4ec1" /><Relationship Type="http://schemas.openxmlformats.org/officeDocument/2006/relationships/notesSlide" Target="/ppt/notesSlides/notesSlide4.xml" Id="Rb0ac44aa50b3435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AF2ED93-32D2-462F-BD2E-06244B00A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0"/>
          </a:solidFill>
          <a:ln xmlns:a="http://schemas.openxmlformats.org/drawingml/2006/main" w="0">
            <a:solidFill>
              <a:srgbClr val="F7F5F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78B1DF-91A1-4B19-A8F2-489D5A9A2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838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438"/>
          </a:solidFill>
          <a:ln xmlns:a="http://schemas.openxmlformats.org/drawingml/2006/main" w="0">
            <a:solidFill>
              <a:srgbClr val="15343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5C1701-7613-4B3F-91EF-A2B2365AE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27432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B8B171-BF59-499A-BE5F-E41FB242C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2925"/>
            <a:ext cx="2743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LANGUAGE STUDY · HSKK INTERMEDIATE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1657FD-ECFC-4641-B29D-B4E835CDB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7334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AX를 일상으로.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43FC9C-A5FC-4AD7-A6FE-4E13A9BFB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47850"/>
            <a:ext cx="876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D8EFEC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D8EFEC"/>
                </a:solidFill>
                <a:latin typeface="Malgun Gothic"/>
                <a:ea typeface="Malgun Gothic"/>
                <a:cs typeface="Malgun Gothic"/>
              </a:rPr>
              <a:t>Language 학습을 매일 실행되는 경험으로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832770-3ED5-48C4-AE0D-87C4590C3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19450"/>
            <a:ext cx="7734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파일로 존재하던 Claude Code Harness를 HSKK 중급 학습 루프로 전환했습니다.</a:t>
            </a:r>
          </a:p>
          <a:p xmlns:a="http://schemas.openxmlformats.org/drawingml/2006/main">
            <a:pPr algn="l">
              <a:defRPr sz="1500" b="0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두 개의 Harness를 병합하고, 병음 포함 모바일 학습 화면과 오전 8시 카톡 알림을 연결했습니다.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5DF23D-4550-45C9-B5B2-13C4CD5AE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5770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51AEEB-B06F-4BA8-A656-8C1579A56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29200"/>
            <a:ext cx="2381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Harness 병합</a:t>
            </a:r>
          </a:p>
          <a:p xmlns:a="http://schemas.openxmlformats.org/drawingml/2006/main">
            <a:pPr algn="l">
              <a:defRPr sz="1200" b="1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Language Tutor + Exam Prep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EF20B0-A6DC-430F-9069-774E2FA66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457700"/>
            <a:ext cx="2552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E76F51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E76F51"/>
                </a:solidFill>
                <a:latin typeface="Aptos Display"/>
                <a:ea typeface="Aptos Display"/>
                <a:cs typeface="Aptos Display"/>
              </a:rPr>
              <a:t>30분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BA3F89-D97C-4C7F-93AD-C29BB98F6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5029200"/>
            <a:ext cx="2552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일일 말하기 학습</a:t>
            </a:r>
          </a:p>
          <a:p xmlns:a="http://schemas.openxmlformats.org/drawingml/2006/main">
            <a:pPr algn="l">
              <a:defRPr sz="1200" b="1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초/중급 · 한자+병음+뜻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9DAE25-31DA-47C2-8A29-67FDD94B1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45770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D9A441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D9A441"/>
                </a:solidFill>
                <a:latin typeface="Aptos Display"/>
                <a:ea typeface="Aptos Display"/>
                <a:cs typeface="Aptos Display"/>
              </a:rPr>
              <a:t>08:00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33999F-3A56-410E-AE16-35C11C1CE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029200"/>
            <a:ext cx="2381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자동 전달</a:t>
            </a:r>
          </a:p>
          <a:p xmlns:a="http://schemas.openxmlformats.org/drawingml/2006/main">
            <a:pPr algn="l">
              <a:defRPr sz="1200" b="1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레슨 생성 · 배포 · 카톡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39355F-E1F4-4E8B-8959-2F85614F4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219450"/>
            <a:ext cx="2247900" cy="220980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5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E5FB52-0225-4B05-8AB6-D217FDDA7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486150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DAILY AX LOOP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1FD839-A7E4-4C58-8DDB-95A20EE90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94335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466601-FAD0-4106-BFE0-7D62DB840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914775"/>
            <a:ext cx="1352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레슨 생성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B46579-4E19-48A3-B4FD-1AEAD4977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4105275"/>
            <a:ext cx="19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5D8"/>
          </a:solidFill>
          <a:ln xmlns:a="http://schemas.openxmlformats.org/drawingml/2006/main" w="0">
            <a:solidFill>
              <a:srgbClr val="C9D5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45AC1F-8C05-4A51-864C-C69255848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30530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20E497-7666-4E71-A9E0-43FD62C10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276725"/>
            <a:ext cx="1352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모바일 반영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B57E3B-0125-4F38-9B2C-3EE769CF9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4467225"/>
            <a:ext cx="19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5D8"/>
          </a:solidFill>
          <a:ln xmlns:a="http://schemas.openxmlformats.org/drawingml/2006/main" w="0">
            <a:solidFill>
              <a:srgbClr val="C9D5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140963-5578-419A-A948-1FBD2A9B0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66725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F6D01E-49F4-47EA-855F-6BE1210A6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638675"/>
            <a:ext cx="1352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카톡 도착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4389FC-9BBF-4861-9A45-931251654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4829175"/>
            <a:ext cx="19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5D8"/>
          </a:solidFill>
          <a:ln xmlns:a="http://schemas.openxmlformats.org/drawingml/2006/main" w="0">
            <a:solidFill>
              <a:srgbClr val="C9D5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5819B0-F250-40A4-9EB1-4A647F10F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5029200"/>
            <a:ext cx="1524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B0BD70-4637-4C6A-B583-614381B19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5000625"/>
            <a:ext cx="1352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말하기 실행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E1D458F-640A-4E64-B8E2-C1ADA7D57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5D8"/>
          </a:solidFill>
          <a:ln xmlns:a="http://schemas.openxmlformats.org/drawingml/2006/main" w="0">
            <a:solidFill>
              <a:srgbClr val="C9D5D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1CCBA8F-8D98-46AF-9458-82F74C2BF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Language Study · HSKK Harness Report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5CB2433-FED0-4731-970A-87650C158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0707A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60707A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91866297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DD9DFA0-C1A7-4046-B84B-E1242378B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0"/>
          </a:solidFill>
          <a:ln xmlns:a="http://schemas.openxmlformats.org/drawingml/2006/main" w="0">
            <a:solidFill>
              <a:srgbClr val="F7F5F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9DFD07-17FB-4E3F-935A-503DA0D0C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238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E98C98-B432-4380-B3B7-23500B728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71475"/>
            <a:ext cx="476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MOBILE LEARNING EXPERIENCE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4F93F1-E225-4708-A9A1-626BF0CC0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0005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0707A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60707A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1DCAED-865A-4D1F-9D9F-1577374CD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105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생성된 학습 페이지를 홈 화면에 추가하고, 매일 아침 카톡으로 다시 만납니다.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3C4C39-4063-4C7A-A4CF-0CD24A4A5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57350"/>
            <a:ext cx="1047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GitHub Pages URL은 고정됩니다. 사용자는 앱처럼 필요할 때 열고, 오전 8시 알림으로 학습 루틴을 이어갑니다.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E3F335-5E51-48FA-9230-9ED7C568E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66950"/>
            <a:ext cx="2076450" cy="31051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153438"/>
          </a:solidFill>
          <a:ln xmlns:a="http://schemas.openxmlformats.org/drawingml/2006/main" w="0">
            <a:solidFill>
              <a:srgbClr val="15343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4AEFFE-5E50-4D16-8E0C-7C5BF69E5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19350"/>
            <a:ext cx="1809750" cy="278130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35A143-0236-440C-9644-B46BB8319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28900"/>
            <a:ext cx="1333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HSKK Study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8E708E-E4E5-4DCE-A13E-293AF9AD2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05150"/>
            <a:ext cx="9906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DFEFEC"/>
          </a:solidFill>
          <a:ln xmlns:a="http://schemas.openxmlformats.org/drawingml/2006/main" w="0">
            <a:solidFill>
              <a:srgbClr val="DFEFE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EF85E4-D4FD-4CE3-8E75-D6C571124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52775"/>
            <a:ext cx="990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HOME SCREEN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D94D8F-5AD8-4168-896C-FEB992FD2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00450"/>
            <a:ext cx="5524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987EF3-7F5D-420D-83D8-815712757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81425"/>
            <a:ext cx="552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HSKK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FE3C7C-743A-41CF-A82A-7D8C5A572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24350"/>
            <a:ext cx="1409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홈 화면에 추가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750652-A0E8-4767-996C-57982627E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48200"/>
            <a:ext cx="1428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GitHub Pages URL을 앱처럼 바로 열기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7191CC-1190-44B5-89ED-926190A7B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705225"/>
            <a:ext cx="552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F6876C-D459-44AB-BB69-0A51BC821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552825"/>
            <a:ext cx="209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&gt;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0A522A-B2D4-4B0F-BE09-55FAF7D33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333750"/>
            <a:ext cx="819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앱처럼 열기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60A41C-00E6-492F-952A-C48AE8205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266950"/>
            <a:ext cx="3124200" cy="3105150"/>
          </a:xfrm>
          <a:prstGeom xmlns:a="http://schemas.openxmlformats.org/drawingml/2006/main" prst="roundRect">
            <a:avLst>
              <a:gd name="adj" fmla="val 24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5D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F3E959-1D56-40F6-BE04-953537ADB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514600"/>
            <a:ext cx="18097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BE6DF"/>
          </a:solidFill>
          <a:ln xmlns:a="http://schemas.openxmlformats.org/drawingml/2006/main" w="0">
            <a:solidFill>
              <a:srgbClr val="FBE6D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D1E49A-6EAF-49A8-BCBE-615B8524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562225"/>
            <a:ext cx="1809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E76F5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E76F51"/>
                </a:solidFill>
                <a:latin typeface="Malgun Gothic"/>
                <a:ea typeface="Malgun Gothic"/>
                <a:cs typeface="Malgun Gothic"/>
              </a:rPr>
              <a:t>TODAY'S LESSON EXAMPLE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7A3E646-FF07-4A22-A63B-993142F56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028950"/>
            <a:ext cx="2552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Lesson 02 · 교통과 이동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D3E38AC-8E9F-4457-B5B5-24E3CAAB8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638550"/>
            <a:ext cx="238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我坐地铁去公司。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DABCDCB-6B68-4302-AD0C-9486C1FAE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019550"/>
            <a:ext cx="238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Wǒ zuò dìtiě qù gōngsī.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B433DA7-E2A1-4CC5-A3A3-F393B68F5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419600"/>
            <a:ext cx="2571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저는 지하철을 타고 회사에 갑니다.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481C56-4A86-4835-A18A-F95FE94FF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876800"/>
            <a:ext cx="2571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76F51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E76F51"/>
                </a:solidFill>
                <a:latin typeface="Malgun Gothic"/>
                <a:ea typeface="Malgun Gothic"/>
                <a:cs typeface="Malgun Gothic"/>
              </a:rPr>
              <a:t>말하기 포인트  ·  교통수단 + 목적지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80F24A-DA05-4C7B-A4C1-37536324A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705225"/>
            <a:ext cx="495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4238A1C-C515-46CE-9CE2-FF20A9567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552825"/>
            <a:ext cx="209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&gt;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C43B983-0E9E-4222-BE52-F57807949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390900"/>
            <a:ext cx="400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08:00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E382AFE-F454-4C05-8D40-B9A8EF74E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266950"/>
            <a:ext cx="2876550" cy="3105150"/>
          </a:xfrm>
          <a:prstGeom xmlns:a="http://schemas.openxmlformats.org/drawingml/2006/main" prst="roundRect">
            <a:avLst>
              <a:gd name="adj" fmla="val 2649"/>
            </a:avLst>
          </a:prstGeom>
          <a:solidFill xmlns:a="http://schemas.openxmlformats.org/drawingml/2006/main">
            <a:srgbClr val="153438"/>
          </a:solidFill>
          <a:ln xmlns:a="http://schemas.openxmlformats.org/drawingml/2006/main" w="0">
            <a:solidFill>
              <a:srgbClr val="15343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4FAC8FB-638C-4890-B6F2-1F809521A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533650"/>
            <a:ext cx="180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8EFEC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D8EFEC"/>
                </a:solidFill>
                <a:latin typeface="Malgun Gothic"/>
                <a:ea typeface="Malgun Gothic"/>
                <a:cs typeface="Malgun Gothic"/>
              </a:rPr>
              <a:t>KAKAO TALK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C8A95DA-2B5E-4CDF-9D26-51CA4D06C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09900"/>
            <a:ext cx="232410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418FECA-17C3-4275-9A59-933C230FB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21945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오늘의 HSKK 30분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97CCBC3-F141-4097-8A03-0B4688C48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638550"/>
            <a:ext cx="1943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Lesson 02: 교통과 이동</a:t>
            </a:r>
          </a:p>
          <a:p xmlns:a="http://schemas.openxmlformats.org/drawingml/2006/main">
            <a:pPr algn="l">
              <a:def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복습: D+1 문장 3개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2DE9B15-5919-4FC7-9D50-2D3A724AA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267200"/>
            <a:ext cx="14668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964C600-912E-4466-9BB9-746DE9099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324350"/>
            <a:ext cx="1466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모바일 학습 열기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1EBDEC2-6A8E-4D8C-BECF-DEF4B8C0C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781550"/>
            <a:ext cx="2095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8EFEC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D8EFEC"/>
                </a:solidFill>
                <a:latin typeface="Malgun Gothic"/>
                <a:ea typeface="Malgun Gothic"/>
                <a:cs typeface="Malgun Gothic"/>
              </a:rPr>
              <a:t>매일 아침 카톡으로</a:t>
            </a:r>
          </a:p>
          <a:p xmlns:a="http://schemas.openxmlformats.org/drawingml/2006/main">
            <a:pPr algn="l">
              <a:defRPr sz="1200" b="1">
                <a:solidFill>
                  <a:srgbClr val="D8EFEC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D8EFEC"/>
                </a:solidFill>
                <a:latin typeface="Malgun Gothic"/>
                <a:ea typeface="Malgun Gothic"/>
                <a:cs typeface="Malgun Gothic"/>
              </a:rPr>
              <a:t>오늘의 링크 도착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99ED90B-D98E-4EFF-9B3F-3A8C196B8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5D8"/>
          </a:solidFill>
          <a:ln xmlns:a="http://schemas.openxmlformats.org/drawingml/2006/main" w="0">
            <a:solidFill>
              <a:srgbClr val="C9D5D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74DE969-3273-4043-B0CE-1D1567BA5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Language Study · HSKK Harness Report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E387019-4BA4-43B8-AC27-6C8C51FCE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0707A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60707A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02568108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D6BE384-EBA0-421D-AFA8-D55B59936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0"/>
          </a:solidFill>
          <a:ln xmlns:a="http://schemas.openxmlformats.org/drawingml/2006/main" w="0">
            <a:solidFill>
              <a:srgbClr val="F7F5F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25EA45-008E-4EED-A5DE-E3A382E63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238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A58570-721A-463D-AC78-A23E8A776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71475"/>
            <a:ext cx="476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END-TO-END 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6043AE-91AC-43EB-A18E-9F2A262AA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0005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0707A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60707A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F2D64E-5909-4430-A9A0-7C903F953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105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Harness 병합부터 카톡 도착까지, 하나의 일상 루프로 연결했습니다.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4AA3D9-5A5B-4C53-AE71-C5318EBE7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57350"/>
            <a:ext cx="1047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시험 준비 구조와 매일 학습 루프를 분리해서 설계하고 자동 전달 파이프라인으로 묶었습니다.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C3760B-864A-4E6F-ACCE-4619199AC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09800"/>
            <a:ext cx="19812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5D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160732-CD58-4EA7-AFBA-E259DF864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09800"/>
            <a:ext cx="66675" cy="1104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5285D7-18B3-427B-B4E3-AD1E4CA82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81250"/>
            <a:ext cx="1657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56 · Tutor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BDBF61-E2EF-456E-8216-E33E3AED6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241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레벨 보정 · 커리큘럼</a:t>
            </a:r>
          </a:p>
          <a:p xmlns:a="http://schemas.openxmlformats.org/drawingml/2006/main">
            <a:pPr algn="l">
              <a:def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레슨 · 퀴즈 · 복습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0C5A34-FF8B-4887-92B0-189B99F5D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05200"/>
            <a:ext cx="19812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5D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8755F1-283B-44B1-A0B6-FB1D8CE86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05200"/>
            <a:ext cx="66675" cy="1104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A441"/>
          </a:solidFill>
          <a:ln xmlns:a="http://schemas.openxmlformats.org/drawingml/2006/main" w="0">
            <a:solidFill>
              <a:srgbClr val="D9A44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214411-6301-4CE7-A5BA-B662617AB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76650"/>
            <a:ext cx="1657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57 · Exam Prep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095A62-D5E4-40BB-B2FF-13E6A932F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195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시험 구조 · 진단 · 설계</a:t>
            </a:r>
          </a:p>
          <a:p xmlns:a="http://schemas.openxmlformats.org/drawingml/2006/main">
            <a:pPr algn="l">
              <a:def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모의고사 · 오답 분석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7B4535-AE14-4585-A5EE-5A22AF77A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209925"/>
            <a:ext cx="685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F89EC7-3D29-4D82-9370-493ABCA40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57525"/>
            <a:ext cx="209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&gt;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191726-5F6B-46E3-97C1-7E5D2B23B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895600"/>
            <a:ext cx="590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병합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6DF35D-0227-4E0E-8A4A-C9B13A28B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324100"/>
            <a:ext cx="21336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153438"/>
          </a:solidFill>
          <a:ln xmlns:a="http://schemas.openxmlformats.org/drawingml/2006/main" w="0">
            <a:solidFill>
              <a:srgbClr val="15343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2E198D-F5C4-497F-8D5B-65656DBD0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647950"/>
            <a:ext cx="15621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HSKK STUDY</a:t>
            </a:r>
          </a:p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HARNESS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500F4B-2A26-4F04-8E2E-6AE2B23FC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467100"/>
            <a:ext cx="14859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D8EFEC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D8EFEC"/>
                </a:solidFill>
                <a:latin typeface="Malgun Gothic"/>
                <a:ea typeface="Malgun Gothic"/>
                <a:cs typeface="Malgun Gothic"/>
              </a:rPr>
              <a:t>중급 시험 구조</a:t>
            </a:r>
          </a:p>
          <a:p xmlns:a="http://schemas.openxmlformats.org/drawingml/2006/main">
            <a:pPr algn="ctr">
              <a:defRPr sz="1125" b="1">
                <a:solidFill>
                  <a:srgbClr val="D8EFEC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D8EFEC"/>
                </a:solidFill>
                <a:latin typeface="Malgun Gothic"/>
                <a:ea typeface="Malgun Gothic"/>
                <a:cs typeface="Malgun Gothic"/>
              </a:rPr>
              <a:t>초/중급 난이도</a:t>
            </a:r>
          </a:p>
          <a:p xmlns:a="http://schemas.openxmlformats.org/drawingml/2006/main">
            <a:pPr algn="ctr">
              <a:defRPr sz="1125" b="1">
                <a:solidFill>
                  <a:srgbClr val="D8EFEC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D8EFEC"/>
                </a:solidFill>
                <a:latin typeface="Malgun Gothic"/>
                <a:ea typeface="Malgun Gothic"/>
                <a:cs typeface="Malgun Gothic"/>
              </a:rPr>
              <a:t>한자 · 병음 · 한국어 뜻</a:t>
            </a:r>
          </a:p>
          <a:p xmlns:a="http://schemas.openxmlformats.org/drawingml/2006/main">
            <a:pPr algn="ctr">
              <a:defRPr sz="1125" b="1">
                <a:solidFill>
                  <a:srgbClr val="D8EFEC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D8EFEC"/>
                </a:solidFill>
                <a:latin typeface="Malgun Gothic"/>
                <a:ea typeface="Malgun Gothic"/>
                <a:cs typeface="Malgun Gothic"/>
              </a:rPr>
              <a:t>30분 학습 템플릿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D1AB01-9EC6-40E4-942C-E60D6D59C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209925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197B48-F083-4BE6-A567-2BF3C346F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057525"/>
            <a:ext cx="209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&gt;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F013B77-2646-414D-92FA-43EE01600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89560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자동화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D7F35B2-C9EB-41BF-A50B-96384580A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400300"/>
            <a:ext cx="914400" cy="192405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5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391C272-2A3A-4D5E-89EA-9B4F7BBBE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247900"/>
            <a:ext cx="2857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5EF0B87-4A1C-4384-8747-D41728A48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286000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5B7F78B-FD24-4878-9782-3AB77AF53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781300"/>
            <a:ext cx="704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레슨</a:t>
            </a:r>
          </a:p>
          <a:p xmlns:a="http://schemas.openxmlformats.org/drawingml/2006/main">
            <a:pPr algn="l">
              <a:defRPr sz="13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생성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CF54FD2-D5E6-46F4-B38E-C6CA12EAC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486150"/>
            <a:ext cx="704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상태 확인</a:t>
            </a:r>
          </a:p>
          <a:p xmlns:a="http://schemas.openxmlformats.org/drawingml/2006/main">
            <a:pPr algn="l">
              <a:defRPr sz="10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중복 방지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C6A77F8-2360-46D7-A652-82F44BD0E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343275"/>
            <a:ext cx="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FADA285-931B-4BDA-95B1-BFF002F24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190875"/>
            <a:ext cx="209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A637BB5-68E7-47CB-B079-78F8EA1F0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400300"/>
            <a:ext cx="914400" cy="192405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5D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DA3DD83-C41A-467D-BE70-CCBB23DE3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247900"/>
            <a:ext cx="2857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A836CB5-A376-4B41-949C-68540B54E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286000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A562AB2-B06A-41BD-A12E-A91EA3F7A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781300"/>
            <a:ext cx="704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모바일</a:t>
            </a:r>
          </a:p>
          <a:p xmlns:a="http://schemas.openxmlformats.org/drawingml/2006/main">
            <a:pPr algn="l">
              <a:defRPr sz="13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빌드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2FCAB19-4805-4AFA-937E-F93B97ED3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486150"/>
            <a:ext cx="704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index.html</a:t>
            </a:r>
          </a:p>
          <a:p xmlns:a="http://schemas.openxmlformats.org/drawingml/2006/main">
            <a:pPr algn="l">
              <a:defRPr sz="10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URL 유지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100969D-7538-4500-AD59-024BC851E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343275"/>
            <a:ext cx="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B0A44BF-A0A0-4130-A4F6-B930DE927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190875"/>
            <a:ext cx="209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&gt;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2D4FFFE-EBAC-4355-A3B5-1C5E024CC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400300"/>
            <a:ext cx="914400" cy="192405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5D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F2A70E6-78F8-40E5-901C-148CCC7E1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247900"/>
            <a:ext cx="2857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2F71BA6-F2A3-4432-A145-66AAAE224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286000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0BDB20B-2B17-4D20-9229-3B66D05ED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781300"/>
            <a:ext cx="704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GitHub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001A9CC-B517-428C-933C-5A863E454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486150"/>
            <a:ext cx="704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변경 시</a:t>
            </a:r>
          </a:p>
          <a:p xmlns:a="http://schemas.openxmlformats.org/drawingml/2006/main">
            <a:pPr algn="l">
              <a:defRPr sz="10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commit +</a:t>
            </a:r>
          </a:p>
          <a:p xmlns:a="http://schemas.openxmlformats.org/drawingml/2006/main">
            <a:pPr algn="l">
              <a:defRPr sz="10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push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24D98DC-387B-4CFA-995D-966F6C077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343275"/>
            <a:ext cx="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5C4D7A0-ED6F-4AC9-8702-4691BD4D7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190875"/>
            <a:ext cx="209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&gt;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AE91A93-B303-4795-B780-7A7C0FF1D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400300"/>
            <a:ext cx="914400" cy="192405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5D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6DB6F9F-EE27-478D-8F39-300D10638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2247900"/>
            <a:ext cx="2857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CBEAF12-FFF5-449E-9D65-A005A0F90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2286000"/>
            <a:ext cx="285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570DF17-D61F-4CF4-B357-E9AF32E95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2781300"/>
            <a:ext cx="704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Kakao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1818FB8-0781-462A-986D-82DD90B1B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3486150"/>
            <a:ext cx="704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토큰 갱신</a:t>
            </a:r>
          </a:p>
          <a:p xmlns:a="http://schemas.openxmlformats.org/drawingml/2006/main">
            <a:pPr algn="l">
              <a:defRPr sz="10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나에게</a:t>
            </a:r>
          </a:p>
          <a:p xmlns:a="http://schemas.openxmlformats.org/drawingml/2006/main">
            <a:pPr algn="l">
              <a:defRPr sz="10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보내기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AB9C137-B20F-4807-935A-EEB761E51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19700"/>
            <a:ext cx="110299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7EBCF"/>
          </a:solidFill>
          <a:ln xmlns:a="http://schemas.openxmlformats.org/drawingml/2006/main" w="0">
            <a:solidFill>
              <a:srgbClr val="F7EBCF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EEB7CB7-02A8-4B1B-846B-D0734CC8B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410200"/>
            <a:ext cx="15621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FA92BC0-5419-487F-BEAF-981674F72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457825"/>
            <a:ext cx="1562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08:00 ASIA/SEOUL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F589695-29BF-4A11-AD7F-AF62E661B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5467350"/>
            <a:ext cx="838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같은 날짜에는 rebuild만 수행  ·  변경이 없으면 push 생략  ·  토큰 오류는 명확하게 보고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5C6AB26-4828-49AB-85A7-90FB125EF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5D8"/>
          </a:solidFill>
          <a:ln xmlns:a="http://schemas.openxmlformats.org/drawingml/2006/main" w="0">
            <a:solidFill>
              <a:srgbClr val="C9D5D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8B5A792-83BC-43A0-862E-58C79B7CB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Language Study · HSKK Harness Report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508863B-033E-4FFB-BF80-6B3A6C487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0707A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60707A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97415089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B7C68CB-04FE-4D76-A5B2-69D74334B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5F0"/>
          </a:solidFill>
          <a:ln xmlns:a="http://schemas.openxmlformats.org/drawingml/2006/main" w="0">
            <a:solidFill>
              <a:srgbClr val="F7F5F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03131A-D080-40EF-97A6-6A4C829BF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238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12516E-37CD-40DE-B279-1490F2CDE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71475"/>
            <a:ext cx="476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APPENDIX · WHAT IS A HARNESS?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010271-36D7-48A2-B28E-962D7A40D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0005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0707A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60707A"/>
                </a:solidFill>
                <a:latin typeface="Aptos Display"/>
                <a:ea typeface="Aptos Display"/>
                <a:cs typeface="Aptos Display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DBA0C0-70DC-492C-A53A-8B53CB0DA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105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Harness Engineering은 AI가 반복해서 일할 수 있는 실행 환경을 설계합니다.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D05E09-FD87-489D-84FA-DC5495B20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57350"/>
            <a:ext cx="1047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Vibe Coding은 한 번의 요청을 잘 쓰는 것에서 시작해, 컨텍스트·실행 구조·역할 분담을 설계하는 방향으로 확장됩니다.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01B852-9AE3-40E2-AAC3-4BA3F806B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76450"/>
            <a:ext cx="111252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153438"/>
          </a:solidFill>
          <a:ln xmlns:a="http://schemas.openxmlformats.org/drawingml/2006/main" w="0">
            <a:solidFill>
              <a:srgbClr val="15343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421F7F-96F8-4737-AFE1-9ED9E9C29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66950"/>
            <a:ext cx="1257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Harness란?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852918-9B9F-4624-BD02-36D36ECAB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276475"/>
            <a:ext cx="889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8EFEC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D8EFEC"/>
                </a:solidFill>
                <a:latin typeface="Malgun Gothic"/>
                <a:ea typeface="Malgun Gothic"/>
                <a:cs typeface="Malgun Gothic"/>
              </a:rPr>
              <a:t>여러 에이전트, 파일, 규칙, 도구, 자동 실행을 묶어 같은 품질의 작업을 반복 가능하게 만드는 운영 장치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853634-A6B5-4073-B266-D79DCB644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2895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구분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C7F028-F721-4280-A2A4-B938D787F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028950"/>
            <a:ext cx="2247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무엇을 설계하나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77A91A-26F0-41BC-8470-F498292D4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028950"/>
            <a:ext cx="2457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핵심 질문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28CECA-0342-4A26-AAC5-B73528FAF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028950"/>
            <a:ext cx="3886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HSKK 과제 예시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F3389E-41F1-4E86-B155-A09878068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0"/>
            <a:ext cx="111252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5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AC7A59-A88B-4166-905F-7D190C57C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81375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Prompt Engineering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7FFCBA-1E2A-4DB2-90AB-F99E4533F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381375"/>
            <a:ext cx="2247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AI에게 주는 요청문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19918E-52DD-4317-8E62-2C8B923B9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381375"/>
            <a:ext cx="2457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무엇을 만들어 달라고 할까?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844165-AB7A-4D61-8EFC-E6AD2D8DF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352800"/>
            <a:ext cx="3886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'초/중급 HSKK 문장을 병음과 뜻을 포함해 생성해줘'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B5B0D9-FF71-4DC8-828A-CE5277052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71900"/>
            <a:ext cx="111252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5D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CE5B45-4942-449A-9B00-29DB7D13B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14775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Context Engineering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58CCB0-9E2F-4A14-B469-6377393E9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914775"/>
            <a:ext cx="2247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AI가 참고할 정보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8449F5-7FC3-46A3-898B-8971D837A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914775"/>
            <a:ext cx="2457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무엇을 알고 작업해야 할까?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737B0A-64E8-403E-B180-051D1AB28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886200"/>
            <a:ext cx="3886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시험 형식, 학습 수준, 복습 이력, 오답 메모를 제공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9FED231-C741-4A0F-913E-B59EA1E78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05300"/>
            <a:ext cx="111252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DFEFEC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D3818B-34B9-4834-BBBF-491D3A19B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48175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Harness Engineering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CAA9895-C0C0-4890-A8C0-59BFE49B5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448175"/>
            <a:ext cx="2247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반복 실행 환경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03BD459-F530-441D-9619-6F9B9CBCC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448175"/>
            <a:ext cx="2457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매일 같은 품질로 어떻게 실행할까?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92A9808-32F5-461D-8099-2FE88B96C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419600"/>
            <a:ext cx="3886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56·57 Harness 병합 → 레슨 생성 → Pages 반영 → 카톡 발송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E2E971D-9FBC-40A7-806D-720473F71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38700"/>
            <a:ext cx="111252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5D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BB3A2A1-EED0-44B8-ADB0-0B48FFA0F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81575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Agent Engineering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06BEC64-FF3C-4DA6-9947-E353CBA95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981575"/>
            <a:ext cx="2247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역할과 협업 방식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6F5D0E0-A88F-4062-8749-3A9563C35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981575"/>
            <a:ext cx="2457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어떤 역할이 판단하고 검증할까?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182A8AE-DED2-4EB1-8C32-81744A843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953000"/>
            <a:ext cx="3886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lesson-tutor, examiner, error-analyst가 역할별로 작업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4CF3492-00A1-4268-A445-84F09F01B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62600"/>
            <a:ext cx="10287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477292B-C1DF-4BF9-81DF-E59E8F4DD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10225"/>
            <a:ext cx="1028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THIS PROJECT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ADD97D8-6B76-4C5C-991C-F8090CAF6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619750"/>
            <a:ext cx="8096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172026"/>
                </a:solidFill>
                <a:latin typeface="Malgun Gothic"/>
                <a:ea typeface="Malgun Gothic"/>
                <a:cs typeface="Malgun Gothic"/>
              </a:rPr>
              <a:t>핵심은 좋은 프롬프트 1개가 아니라, 학습이 매일 도착하도록 만든 Harness입니다.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82C62C5-933C-4BDB-9E05-66F6A2066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937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5D8"/>
          </a:solidFill>
          <a:ln xmlns:a="http://schemas.openxmlformats.org/drawingml/2006/main" w="0">
            <a:solidFill>
              <a:srgbClr val="C9D5D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57B7590-8C0D-473E-B38F-8CEC84922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60707A"/>
                </a:solidFill>
                <a:latin typeface="Malgun Gothic"/>
                <a:ea typeface="Malgun Gothic"/>
                <a:cs typeface="Malgun Gothic"/>
              </a:rPr>
              <a:t>Language Study · Appendix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B2DBA5B-EB89-478E-BE8C-E14E77851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0707A"/>
                </a:solidFill>
                <a:latin typeface="Aptos Display"/>
                <a:ea typeface="Aptos Display"/>
                <a:cs typeface="Aptos Display"/>
              </a:defRPr>
            </a:pPr>
            <a:r>
              <a:rPr sz="825" b="1">
                <a:solidFill>
                  <a:srgbClr val="60707A"/>
                </a:solidFill>
                <a:latin typeface="Aptos Display"/>
                <a:ea typeface="Aptos Display"/>
                <a:cs typeface="Aptos Display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49928185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2026-05-30T16:21:57.3850000Z</dcterms:created>
  <dcterms:modified xsi:type="dcterms:W3CDTF">2026-05-30T16:21:57.3850000Z</dcterms:modified>
</coreProperties>
</file>